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2" r:id="rId4"/>
    <p:sldId id="267" r:id="rId5"/>
    <p:sldId id="261" r:id="rId6"/>
    <p:sldId id="262" r:id="rId7"/>
    <p:sldId id="263" r:id="rId8"/>
    <p:sldId id="268" r:id="rId9"/>
    <p:sldId id="269" r:id="rId10"/>
    <p:sldId id="270" r:id="rId11"/>
    <p:sldId id="271" r:id="rId12"/>
    <p:sldId id="265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242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9CBDA-AEA7-4F83-893E-F79BA6C029A0}" type="datetimeFigureOut">
              <a:rPr lang="en-US" smtClean="0"/>
              <a:t>11-Jan-26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DBEA4-2032-41F4-8359-2FF33E4A1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1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DBEA4-2032-41F4-8359-2FF33E4A1E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95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8BCE-1E49-8736-5D79-BA33CE987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E6048-CD8A-A3C9-A83E-E4A3267AA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AC84A-D5B1-2A72-C708-FCBCB949F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2B51E-9A1C-77A9-F7CA-4B0F618C6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DBEA4-2032-41F4-8359-2FF33E4A1E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50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99685"/>
          </a:xfrm>
        </p:spPr>
        <p:txBody>
          <a:bodyPr>
            <a:normAutofit/>
          </a:bodyPr>
          <a:lstStyle/>
          <a:p>
            <a:r>
              <a:rPr dirty="0"/>
              <a:t>The dataset contains phone product listings collected from an e-commerce platform.</a:t>
            </a:r>
          </a:p>
          <a:p>
            <a:r>
              <a:rPr dirty="0">
                <a:solidFill>
                  <a:srgbClr val="FF0000"/>
                </a:solidFill>
              </a:rPr>
              <a:t>Key columns </a:t>
            </a:r>
            <a:r>
              <a:rPr dirty="0"/>
              <a:t>include product title, </a:t>
            </a:r>
            <a:r>
              <a:rPr lang="en-US" dirty="0"/>
              <a:t>p</a:t>
            </a:r>
            <a:r>
              <a:rPr dirty="0"/>
              <a:t>rice,</a:t>
            </a:r>
            <a:r>
              <a:rPr lang="en-US" dirty="0"/>
              <a:t> original price,</a:t>
            </a:r>
            <a:r>
              <a:rPr dirty="0"/>
              <a:t> sales volume, ratings, discount status, Amazon Choice, Best Seller, Prime availability, and Climate Pledge Friendly.</a:t>
            </a:r>
          </a:p>
          <a:p>
            <a:r>
              <a:rPr dirty="0"/>
              <a:t>The raw dataset contained over </a:t>
            </a:r>
            <a:r>
              <a:rPr dirty="0">
                <a:solidFill>
                  <a:srgbClr val="FF0000"/>
                </a:solidFill>
              </a:rPr>
              <a:t>300 products </a:t>
            </a:r>
            <a:r>
              <a:rPr dirty="0"/>
              <a:t>and mixed numerical, categorical, and text data.</a:t>
            </a:r>
          </a:p>
        </p:txBody>
      </p:sp>
      <p:sp>
        <p:nvSpPr>
          <p:cNvPr id="4" name="AutoShape 2" descr="Logo">
            <a:extLst>
              <a:ext uri="{FF2B5EF4-FFF2-40B4-BE49-F238E27FC236}">
                <a16:creationId xmlns:a16="http://schemas.microsoft.com/office/drawing/2014/main" id="{6E270A90-E038-6CC4-1678-992D3C6170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20462" y="2501410"/>
            <a:ext cx="867507" cy="12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65A2E2B-62D0-642A-59AB-34FC376A5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8448" y="6288087"/>
            <a:ext cx="105727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5160"/>
            <a:ext cx="8229600" cy="737700"/>
          </a:xfrm>
        </p:spPr>
        <p:txBody>
          <a:bodyPr>
            <a:normAutofit fontScale="90000"/>
          </a:bodyPr>
          <a:lstStyle/>
          <a:p>
            <a:r>
              <a:rPr dirty="0"/>
              <a:t>Main Data Issues</a:t>
            </a:r>
            <a:r>
              <a:rPr lang="en-US" dirty="0"/>
              <a:t> and their solutions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1722" y="879230"/>
            <a:ext cx="9144000" cy="6153761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1. delete the columns with more 75% of null rows(</a:t>
            </a:r>
            <a:r>
              <a:rPr lang="en-US" sz="2400" dirty="0">
                <a:solidFill>
                  <a:srgbClr val="0070C0"/>
                </a:solidFill>
              </a:rPr>
              <a:t>unit_price ,unit_count ,coupon_text ,product_availability ,currency ,delivery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ar-EG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issue</a:t>
            </a:r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FF0000"/>
                </a:solidFill>
              </a:rPr>
              <a:t> these columns do not provide sufficient information for reliable analysis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2. clean (</a:t>
            </a:r>
            <a:r>
              <a:rPr lang="en-US" sz="2400" dirty="0">
                <a:solidFill>
                  <a:srgbClr val="0070C0"/>
                </a:solidFill>
              </a:rPr>
              <a:t>product price ,product original price ,product minimum offer price</a:t>
            </a:r>
            <a:r>
              <a:rPr lang="en-US" sz="2400" dirty="0"/>
              <a:t>)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columns by keeping only numbers from </a:t>
            </a:r>
            <a:r>
              <a:rPr lang="en-US" sz="2400" dirty="0">
                <a:solidFill>
                  <a:schemeClr val="accent1"/>
                </a:solidFill>
              </a:rPr>
              <a:t>(0 to 9)</a:t>
            </a:r>
            <a:r>
              <a:rPr lang="en-US" sz="2400" dirty="0"/>
              <a:t> and </a:t>
            </a:r>
            <a:r>
              <a:rPr lang="en-US" sz="2400" dirty="0">
                <a:solidFill>
                  <a:schemeClr val="accent1"/>
                </a:solidFill>
              </a:rPr>
              <a:t>(.)</a:t>
            </a:r>
            <a:r>
              <a:rPr lang="en-US" sz="2400" dirty="0"/>
              <a:t> and replace anything else with </a:t>
            </a:r>
            <a:r>
              <a:rPr lang="en-US" sz="2400" dirty="0">
                <a:solidFill>
                  <a:schemeClr val="accent1"/>
                </a:solidFill>
              </a:rPr>
              <a:t>empty space.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Convert columns type from </a:t>
            </a:r>
            <a:r>
              <a:rPr lang="en-US" sz="2400" dirty="0">
                <a:solidFill>
                  <a:schemeClr val="accent1"/>
                </a:solidFill>
              </a:rPr>
              <a:t>object to float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 issue</a:t>
            </a:r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FF0000"/>
                </a:solidFill>
              </a:rPr>
              <a:t> Stored as text with currency symbols and extra characters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dirty="0"/>
              <a:t>3. </a:t>
            </a:r>
            <a:r>
              <a:rPr lang="en-US" sz="2400" dirty="0">
                <a:solidFill>
                  <a:srgbClr val="0070C0"/>
                </a:solidFill>
              </a:rPr>
              <a:t>product price and product minimum offer price </a:t>
            </a:r>
            <a:r>
              <a:rPr lang="en-US" sz="2400" dirty="0"/>
              <a:t>columns </a:t>
            </a:r>
            <a:r>
              <a:rPr lang="en-US" sz="2400" dirty="0">
                <a:solidFill>
                  <a:srgbClr val="FF0000"/>
                </a:solidFill>
              </a:rPr>
              <a:t>have null values</a:t>
            </a:r>
            <a:r>
              <a:rPr lang="en-US" sz="2400" dirty="0"/>
              <a:t>              fill null values by the median() of each column</a:t>
            </a:r>
          </a:p>
          <a:p>
            <a:r>
              <a:rPr lang="en-US" sz="2400" dirty="0"/>
              <a:t>4. </a:t>
            </a:r>
            <a:r>
              <a:rPr lang="en-US" sz="2400" dirty="0">
                <a:solidFill>
                  <a:srgbClr val="0070C0"/>
                </a:solidFill>
              </a:rPr>
              <a:t>product star ratings </a:t>
            </a:r>
            <a:r>
              <a:rPr lang="en-US" sz="2400" dirty="0"/>
              <a:t>column </a:t>
            </a:r>
            <a:r>
              <a:rPr lang="en-US" sz="2400" dirty="0">
                <a:solidFill>
                  <a:srgbClr val="FF0000"/>
                </a:solidFill>
              </a:rPr>
              <a:t>has null values              </a:t>
            </a:r>
            <a:r>
              <a:rPr lang="en-US" sz="2400" dirty="0"/>
              <a:t>fill null values by the mean(4.08)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Issue</a:t>
            </a:r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FF0000"/>
                </a:solidFill>
              </a:rPr>
              <a:t> contained missing values (3,4)</a:t>
            </a:r>
          </a:p>
          <a:p>
            <a:pPr marL="0" indent="0">
              <a:buNone/>
            </a:pPr>
            <a:endParaRPr lang="en-US" sz="2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836685-4BD0-44E0-CB1B-DCD2789B74DE}"/>
              </a:ext>
            </a:extLst>
          </p:cNvPr>
          <p:cNvCxnSpPr>
            <a:cxnSpLocks/>
          </p:cNvCxnSpPr>
          <p:nvPr/>
        </p:nvCxnSpPr>
        <p:spPr>
          <a:xfrm>
            <a:off x="1301261" y="5486400"/>
            <a:ext cx="7854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5A1479-B6EC-BC2C-77FB-6958C16E873C}"/>
              </a:ext>
            </a:extLst>
          </p:cNvPr>
          <p:cNvCxnSpPr>
            <a:cxnSpLocks/>
          </p:cNvCxnSpPr>
          <p:nvPr/>
        </p:nvCxnSpPr>
        <p:spPr>
          <a:xfrm>
            <a:off x="6078416" y="5884984"/>
            <a:ext cx="7854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2AE25189-087D-DB04-97CB-1D23FA634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5003" y="6312876"/>
            <a:ext cx="105727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75245-131D-1C27-BC21-24B21E7F3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B23C-6CB2-BD18-A6C2-128CDB917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5160"/>
            <a:ext cx="8229600" cy="737700"/>
          </a:xfrm>
        </p:spPr>
        <p:txBody>
          <a:bodyPr>
            <a:normAutofit fontScale="90000"/>
          </a:bodyPr>
          <a:lstStyle/>
          <a:p>
            <a:r>
              <a:rPr dirty="0"/>
              <a:t>Main Data Issues</a:t>
            </a:r>
            <a:r>
              <a:rPr lang="en-US" dirty="0"/>
              <a:t> and their solutions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A232A-C41E-DF45-5770-5D926B2D5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722" y="879230"/>
            <a:ext cx="9144000" cy="6153761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1. delete the columns with more 75% of null rows(</a:t>
            </a:r>
            <a:r>
              <a:rPr lang="en-US" sz="2400" dirty="0">
                <a:solidFill>
                  <a:srgbClr val="0070C0"/>
                </a:solidFill>
              </a:rPr>
              <a:t>unit_price ,unit_count ,coupon_text ,product_availability ,currency ,delivery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ar-EG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issue</a:t>
            </a:r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FF0000"/>
                </a:solidFill>
              </a:rPr>
              <a:t> these columns do not provide sufficient information for reliable analysis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2. clean (</a:t>
            </a:r>
            <a:r>
              <a:rPr lang="en-US" sz="2400" dirty="0">
                <a:solidFill>
                  <a:srgbClr val="0070C0"/>
                </a:solidFill>
              </a:rPr>
              <a:t>product price ,product original price ,product minimum offer price</a:t>
            </a:r>
            <a:r>
              <a:rPr lang="en-US" sz="2400" dirty="0"/>
              <a:t>)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columns by keeping only numbers from </a:t>
            </a:r>
            <a:r>
              <a:rPr lang="en-US" sz="2400" dirty="0">
                <a:solidFill>
                  <a:schemeClr val="accent1"/>
                </a:solidFill>
              </a:rPr>
              <a:t>(0 to 9)</a:t>
            </a:r>
            <a:r>
              <a:rPr lang="en-US" sz="2400" dirty="0"/>
              <a:t> and </a:t>
            </a:r>
            <a:r>
              <a:rPr lang="en-US" sz="2400" dirty="0">
                <a:solidFill>
                  <a:schemeClr val="accent1"/>
                </a:solidFill>
              </a:rPr>
              <a:t>(.)</a:t>
            </a:r>
            <a:r>
              <a:rPr lang="en-US" sz="2400" dirty="0"/>
              <a:t> and replace anything else with </a:t>
            </a:r>
            <a:r>
              <a:rPr lang="en-US" sz="2400" dirty="0">
                <a:solidFill>
                  <a:schemeClr val="accent1"/>
                </a:solidFill>
              </a:rPr>
              <a:t>empty space.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Convert columns type from </a:t>
            </a:r>
            <a:r>
              <a:rPr lang="en-US" sz="2400" dirty="0">
                <a:solidFill>
                  <a:schemeClr val="accent1"/>
                </a:solidFill>
              </a:rPr>
              <a:t>object to float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 issue</a:t>
            </a:r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FF0000"/>
                </a:solidFill>
              </a:rPr>
              <a:t> Stored as text with currency symbols and extra characters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dirty="0"/>
              <a:t>3. </a:t>
            </a:r>
            <a:r>
              <a:rPr lang="en-US" sz="2400" dirty="0">
                <a:solidFill>
                  <a:srgbClr val="0070C0"/>
                </a:solidFill>
              </a:rPr>
              <a:t>product price and product minimum offer price </a:t>
            </a:r>
            <a:r>
              <a:rPr lang="en-US" sz="2400" dirty="0"/>
              <a:t>columns </a:t>
            </a:r>
            <a:r>
              <a:rPr lang="en-US" sz="2400" dirty="0">
                <a:solidFill>
                  <a:srgbClr val="FF0000"/>
                </a:solidFill>
              </a:rPr>
              <a:t>have null values</a:t>
            </a:r>
            <a:r>
              <a:rPr lang="en-US" sz="2400" dirty="0"/>
              <a:t>              fill null values by the median() of each column</a:t>
            </a:r>
          </a:p>
          <a:p>
            <a:r>
              <a:rPr lang="en-US" sz="2400" dirty="0"/>
              <a:t>4. </a:t>
            </a:r>
            <a:r>
              <a:rPr lang="en-US" sz="2400" dirty="0">
                <a:solidFill>
                  <a:srgbClr val="0070C0"/>
                </a:solidFill>
              </a:rPr>
              <a:t>product star ratings </a:t>
            </a:r>
            <a:r>
              <a:rPr lang="en-US" sz="2400" dirty="0"/>
              <a:t>column </a:t>
            </a:r>
            <a:r>
              <a:rPr lang="en-US" sz="2400" dirty="0">
                <a:solidFill>
                  <a:srgbClr val="FF0000"/>
                </a:solidFill>
              </a:rPr>
              <a:t>has null values              </a:t>
            </a:r>
            <a:r>
              <a:rPr lang="en-US" sz="2400" dirty="0"/>
              <a:t>fill null values by the mean(4.08)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Issue</a:t>
            </a:r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FF0000"/>
                </a:solidFill>
              </a:rPr>
              <a:t> contained missing values (3,4)</a:t>
            </a:r>
          </a:p>
          <a:p>
            <a:pPr marL="0" indent="0">
              <a:buNone/>
            </a:pPr>
            <a:endParaRPr lang="en-US" sz="2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18BF3D-F11C-BB75-F06F-FB3BC2CD32C0}"/>
              </a:ext>
            </a:extLst>
          </p:cNvPr>
          <p:cNvCxnSpPr>
            <a:cxnSpLocks/>
          </p:cNvCxnSpPr>
          <p:nvPr/>
        </p:nvCxnSpPr>
        <p:spPr>
          <a:xfrm>
            <a:off x="1301261" y="5486400"/>
            <a:ext cx="7854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6E38F9-672B-C3F4-7AEE-FB0865BCC28C}"/>
              </a:ext>
            </a:extLst>
          </p:cNvPr>
          <p:cNvCxnSpPr>
            <a:cxnSpLocks/>
          </p:cNvCxnSpPr>
          <p:nvPr/>
        </p:nvCxnSpPr>
        <p:spPr>
          <a:xfrm>
            <a:off x="6078416" y="5884984"/>
            <a:ext cx="7854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Rectangle 1">
            <a:extLst>
              <a:ext uri="{FF2B5EF4-FFF2-40B4-BE49-F238E27FC236}">
                <a16:creationId xmlns:a16="http://schemas.microsoft.com/office/drawing/2014/main" id="{26D79070-EA09-945E-3A49-055C05840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Stored as text with currency symbols and extra characters.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5E02764-E1CC-8531-B9F8-42AECEC0D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5003" y="6312876"/>
            <a:ext cx="1057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62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67EE6-8201-CF40-C281-74A86A814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F6BF-BEC3-E037-3BC9-3CE98533B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8953"/>
            <a:ext cx="8229600" cy="737700"/>
          </a:xfrm>
        </p:spPr>
        <p:txBody>
          <a:bodyPr>
            <a:normAutofit fontScale="90000"/>
          </a:bodyPr>
          <a:lstStyle/>
          <a:p>
            <a:r>
              <a:rPr dirty="0"/>
              <a:t>Main Data Issues</a:t>
            </a:r>
            <a:r>
              <a:rPr lang="en-US" dirty="0"/>
              <a:t> and their solutions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C1A7B-D1C5-4CE9-435B-55D75CF22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5077"/>
            <a:ext cx="9144000" cy="5697416"/>
          </a:xfrm>
        </p:spPr>
        <p:txBody>
          <a:bodyPr>
            <a:normAutofit/>
          </a:bodyPr>
          <a:lstStyle/>
          <a:p>
            <a:r>
              <a:rPr lang="en-US" sz="2400" dirty="0"/>
              <a:t>5. </a:t>
            </a:r>
            <a:r>
              <a:rPr lang="en-US" sz="2400" dirty="0">
                <a:solidFill>
                  <a:srgbClr val="0070C0"/>
                </a:solidFill>
              </a:rPr>
              <a:t>product original price column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has null values              fill null values with</a:t>
            </a:r>
            <a:r>
              <a:rPr lang="ar-EG" sz="2400" dirty="0"/>
              <a:t> </a:t>
            </a:r>
            <a:r>
              <a:rPr lang="en-US" sz="2400" dirty="0"/>
              <a:t>the corresponding values of </a:t>
            </a:r>
            <a:r>
              <a:rPr lang="en-US" sz="2400" dirty="0">
                <a:solidFill>
                  <a:srgbClr val="0070C0"/>
                </a:solidFill>
              </a:rPr>
              <a:t>product price </a:t>
            </a:r>
            <a:r>
              <a:rPr lang="en-US" sz="2400" dirty="0"/>
              <a:t>column (regarding to these products have not any discounts)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Issue</a:t>
            </a:r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FF0000"/>
                </a:solidFill>
              </a:rPr>
              <a:t> contained missing values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6. important numerical values with string values in </a:t>
            </a:r>
            <a:r>
              <a:rPr lang="en-US" sz="2400" dirty="0">
                <a:solidFill>
                  <a:srgbClr val="0070C0"/>
                </a:solidFill>
              </a:rPr>
              <a:t>sales volume </a:t>
            </a:r>
            <a:r>
              <a:rPr lang="en-US" sz="2400" dirty="0"/>
              <a:t>column              separate the numbers from the column with or without </a:t>
            </a:r>
            <a:r>
              <a:rPr lang="en-US" sz="2400" dirty="0">
                <a:solidFill>
                  <a:schemeClr val="accent1"/>
                </a:solidFill>
              </a:rPr>
              <a:t>(K or k) </a:t>
            </a:r>
            <a:r>
              <a:rPr lang="en-US" sz="2400" dirty="0"/>
              <a:t>then convert the column type </a:t>
            </a:r>
            <a:r>
              <a:rPr lang="en-US" sz="2400" dirty="0">
                <a:solidFill>
                  <a:srgbClr val="7030A0"/>
                </a:solidFill>
              </a:rPr>
              <a:t>to float </a:t>
            </a:r>
            <a:r>
              <a:rPr lang="en-US" sz="2400" dirty="0"/>
              <a:t>, and finally multiply numbers of the rows that contain </a:t>
            </a:r>
            <a:r>
              <a:rPr lang="en-US" sz="2400" dirty="0">
                <a:solidFill>
                  <a:schemeClr val="accent1"/>
                </a:solidFill>
              </a:rPr>
              <a:t>(K or k) </a:t>
            </a:r>
            <a:r>
              <a:rPr lang="en-US" sz="2400" dirty="0"/>
              <a:t>by </a:t>
            </a:r>
            <a:r>
              <a:rPr lang="en-US" sz="2400" dirty="0">
                <a:solidFill>
                  <a:srgbClr val="7030A0"/>
                </a:solidFill>
              </a:rPr>
              <a:t>1000 </a:t>
            </a:r>
            <a:r>
              <a:rPr lang="en-US" sz="2400" dirty="0"/>
              <a:t>in new column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Issue</a:t>
            </a:r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FF0000"/>
                </a:solidFill>
              </a:rPr>
              <a:t> Sales volume stored as text with values such as (1.2K)</a:t>
            </a:r>
          </a:p>
          <a:p>
            <a:endParaRPr lang="en-US" sz="2400" dirty="0"/>
          </a:p>
          <a:p>
            <a:r>
              <a:rPr lang="en-US" sz="2400" dirty="0"/>
              <a:t>7. make new column called </a:t>
            </a:r>
            <a:r>
              <a:rPr lang="en-US" sz="2400" dirty="0">
                <a:solidFill>
                  <a:srgbClr val="0070C0"/>
                </a:solidFill>
              </a:rPr>
              <a:t>discount value</a:t>
            </a:r>
            <a:r>
              <a:rPr lang="ar-EG" sz="2400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column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by subtracting the values of </a:t>
            </a:r>
            <a:r>
              <a:rPr lang="en-US" sz="2400" dirty="0">
                <a:solidFill>
                  <a:srgbClr val="0070C0"/>
                </a:solidFill>
              </a:rPr>
              <a:t>product original price and product price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columns</a:t>
            </a:r>
          </a:p>
          <a:p>
            <a:pPr marL="0" indent="0">
              <a:buNone/>
            </a:pPr>
            <a:endParaRPr lang="en-US" sz="2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09747A8-7BBE-9641-E926-A93834FB6E27}"/>
              </a:ext>
            </a:extLst>
          </p:cNvPr>
          <p:cNvCxnSpPr>
            <a:cxnSpLocks/>
          </p:cNvCxnSpPr>
          <p:nvPr/>
        </p:nvCxnSpPr>
        <p:spPr>
          <a:xfrm>
            <a:off x="6336323" y="1301263"/>
            <a:ext cx="7854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77A248B-8719-DBF6-609D-22B5F3EC8CD3}"/>
              </a:ext>
            </a:extLst>
          </p:cNvPr>
          <p:cNvCxnSpPr>
            <a:cxnSpLocks/>
          </p:cNvCxnSpPr>
          <p:nvPr/>
        </p:nvCxnSpPr>
        <p:spPr>
          <a:xfrm>
            <a:off x="1447800" y="3722079"/>
            <a:ext cx="7854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CA6D4D2E-EFA0-1E01-67CF-B1A7D986A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6048" y="6433772"/>
            <a:ext cx="1057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89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–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Market Overview page shows:</a:t>
            </a:r>
          </a:p>
          <a:p>
            <a:r>
              <a:t>- Total number of products</a:t>
            </a:r>
          </a:p>
          <a:p>
            <a:r>
              <a:t>- Average sales per product</a:t>
            </a:r>
          </a:p>
          <a:p>
            <a:r>
              <a:t>- Discount sales lift percentage</a:t>
            </a:r>
          </a:p>
          <a:p>
            <a:r>
              <a:t>- Average prices and ratings</a:t>
            </a:r>
          </a:p>
          <a:p>
            <a:r>
              <a:t>This page gives a high-level understanding of the phone market.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92E4A20-19EE-E846-B56F-9B8A68E3E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6725" y="6308725"/>
            <a:ext cx="105727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Dashboard – Discount &amp; Sustainability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Charts analyze discount effectiveness and climate-friendly products.</a:t>
            </a:r>
          </a:p>
          <a:p>
            <a:r>
              <a:t>Discounted products show higher average sales.</a:t>
            </a:r>
          </a:p>
          <a:p>
            <a:r>
              <a:t>Climate-friendly products represent a smaller portion of the market but have competitive sales performance.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FFE7331-BA2C-B3EC-31F2-3E9BFA10C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6725" y="6308725"/>
            <a:ext cx="105727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– Sales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page analyzes:</a:t>
            </a:r>
          </a:p>
          <a:p>
            <a:r>
              <a:t>- Sales by rating</a:t>
            </a:r>
          </a:p>
          <a:p>
            <a:r>
              <a:t>- Best Seller vs non-best seller performance</a:t>
            </a:r>
          </a:p>
          <a:p>
            <a:r>
              <a:t>- Amazon Choice impact</a:t>
            </a:r>
          </a:p>
          <a:p>
            <a:r>
              <a:t>- Top 10 products by sales</a:t>
            </a:r>
          </a:p>
          <a:p>
            <a:r>
              <a:t>It highlights the strong relationship between high ratings, badges, and sales.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5630EAB-4137-7885-0C70-499E743F8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6725" y="6435724"/>
            <a:ext cx="105727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4AF5-22A0-EBFC-ACB8-64313A0FF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07"/>
            <a:ext cx="8229600" cy="1143000"/>
          </a:xfrm>
        </p:spPr>
        <p:txBody>
          <a:bodyPr/>
          <a:lstStyle/>
          <a:p>
            <a:r>
              <a:rPr lang="en-US" dirty="0"/>
              <a:t>Dashboard Explanation(page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DECD4-CF48-67C7-EC83-84BAF53CE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8006"/>
            <a:ext cx="9144000" cy="5709993"/>
          </a:xfrm>
        </p:spPr>
        <p:txBody>
          <a:bodyPr/>
          <a:lstStyle/>
          <a:p>
            <a:r>
              <a:rPr lang="en-US" dirty="0"/>
              <a:t>KPI cards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Num_Products (315)            </a:t>
            </a:r>
            <a:r>
              <a:rPr lang="en-US" sz="2400" dirty="0"/>
              <a:t>To give context about the dataset size and analysis scope.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Sales per Product (415.24)   </a:t>
            </a:r>
            <a:r>
              <a:rPr lang="en-US" sz="2400" dirty="0"/>
              <a:t>        Using average sales avoids misleading results caused by a few high-selling products.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Discount Sales Lift % (15.84%)           </a:t>
            </a:r>
            <a:r>
              <a:rPr lang="en-US" sz="2400" dirty="0"/>
              <a:t>To measure the effectiveness of discounts.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Avg Prices ($171.09)             </a:t>
            </a:r>
            <a:r>
              <a:rPr lang="en-US" sz="2400" dirty="0"/>
              <a:t>To understand the overall pricing level in the market.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Avg Ratings (4.08)             </a:t>
            </a:r>
            <a:r>
              <a:rPr lang="en-US" sz="2400" dirty="0"/>
              <a:t>Customer ratings strongly influence purchasing decisions.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Discounted Products (43.49%)             </a:t>
            </a:r>
            <a:r>
              <a:rPr lang="en-US" sz="2400" dirty="0"/>
              <a:t>To measure how common discount strategies are.</a:t>
            </a:r>
          </a:p>
          <a:p>
            <a:pPr marL="914400" lvl="1" indent="-514350">
              <a:buFont typeface="+mj-lt"/>
              <a:buAutoNum type="arabicPeriod"/>
            </a:pPr>
            <a:endParaRPr lang="en-US" sz="2400" dirty="0"/>
          </a:p>
          <a:p>
            <a:pPr marL="914400" lvl="1" indent="-514350">
              <a:buFont typeface="+mj-lt"/>
              <a:buAutoNum type="arabicPeriod"/>
            </a:pPr>
            <a:endParaRPr lang="en-US" sz="2400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769E798-FDA9-36B3-D3A0-757EA4208444}"/>
              </a:ext>
            </a:extLst>
          </p:cNvPr>
          <p:cNvCxnSpPr>
            <a:cxnSpLocks/>
          </p:cNvCxnSpPr>
          <p:nvPr/>
        </p:nvCxnSpPr>
        <p:spPr>
          <a:xfrm>
            <a:off x="3622431" y="1957756"/>
            <a:ext cx="7268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613FA1C-9978-4375-A536-FCCD7587461D}"/>
              </a:ext>
            </a:extLst>
          </p:cNvPr>
          <p:cNvCxnSpPr>
            <a:cxnSpLocks/>
          </p:cNvCxnSpPr>
          <p:nvPr/>
        </p:nvCxnSpPr>
        <p:spPr>
          <a:xfrm>
            <a:off x="4302370" y="2743204"/>
            <a:ext cx="66235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5A139E-4AA2-2BBF-A6E2-8B110484922F}"/>
              </a:ext>
            </a:extLst>
          </p:cNvPr>
          <p:cNvCxnSpPr>
            <a:cxnSpLocks/>
          </p:cNvCxnSpPr>
          <p:nvPr/>
        </p:nvCxnSpPr>
        <p:spPr>
          <a:xfrm>
            <a:off x="4759575" y="3552094"/>
            <a:ext cx="6271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14779F4-413C-C435-9F7B-C992A306B71A}"/>
              </a:ext>
            </a:extLst>
          </p:cNvPr>
          <p:cNvCxnSpPr>
            <a:cxnSpLocks/>
          </p:cNvCxnSpPr>
          <p:nvPr/>
        </p:nvCxnSpPr>
        <p:spPr>
          <a:xfrm>
            <a:off x="3598985" y="4360988"/>
            <a:ext cx="7854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FDCBB24-4301-F3F7-7ABD-A152C3774297}"/>
              </a:ext>
            </a:extLst>
          </p:cNvPr>
          <p:cNvCxnSpPr>
            <a:cxnSpLocks/>
          </p:cNvCxnSpPr>
          <p:nvPr/>
        </p:nvCxnSpPr>
        <p:spPr>
          <a:xfrm>
            <a:off x="3300045" y="5169882"/>
            <a:ext cx="7854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A66720D-63C6-79FB-52CC-F8343400E637}"/>
              </a:ext>
            </a:extLst>
          </p:cNvPr>
          <p:cNvCxnSpPr>
            <a:cxnSpLocks/>
          </p:cNvCxnSpPr>
          <p:nvPr/>
        </p:nvCxnSpPr>
        <p:spPr>
          <a:xfrm>
            <a:off x="4759575" y="5967051"/>
            <a:ext cx="7854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DE4E2BD6-760D-C06E-023D-1403CFC24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6725" y="6312876"/>
            <a:ext cx="1057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73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AF8D5-CA5A-93B9-CB2C-2E9887808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2EC1B-1A78-1DAA-FB70-5DBB10582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07"/>
            <a:ext cx="8229600" cy="1143000"/>
          </a:xfrm>
        </p:spPr>
        <p:txBody>
          <a:bodyPr/>
          <a:lstStyle/>
          <a:p>
            <a:r>
              <a:rPr lang="en-US" dirty="0"/>
              <a:t>Dashboard Explanation(page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AD3F-7B9E-6916-5186-BB728BE11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8006"/>
            <a:ext cx="9144000" cy="5709993"/>
          </a:xfrm>
        </p:spPr>
        <p:txBody>
          <a:bodyPr/>
          <a:lstStyle/>
          <a:p>
            <a:r>
              <a:rPr lang="en-US" dirty="0"/>
              <a:t>Graphs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Avg Sales by Climate Friendly           </a:t>
            </a:r>
            <a:r>
              <a:rPr lang="en-US" dirty="0"/>
              <a:t>To evaluate whether climate-friendly products influence sales performance.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Discount Effectiveness           </a:t>
            </a:r>
            <a:r>
              <a:rPr lang="en-US" dirty="0"/>
              <a:t>To compare discounted vs non-discounted sales.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Discount Impact on Sales          </a:t>
            </a:r>
            <a:r>
              <a:rPr lang="en-US" dirty="0"/>
              <a:t>To analyze how discounts affect average sales per product.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Count of Climate Friendly Products           </a:t>
            </a:r>
            <a:r>
              <a:rPr lang="en-US" dirty="0"/>
              <a:t>To understand market composition regarding sustainability.</a:t>
            </a:r>
          </a:p>
          <a:p>
            <a:pPr marL="400050" lvl="1" indent="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sz="2400" dirty="0"/>
          </a:p>
          <a:p>
            <a:pPr marL="914400" lvl="1" indent="-514350">
              <a:buFont typeface="+mj-lt"/>
              <a:buAutoNum type="arabicPeriod"/>
            </a:pPr>
            <a:endParaRPr lang="en-US" sz="2400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884509-E3F8-1EA1-250E-A9E1970E8D9F}"/>
              </a:ext>
            </a:extLst>
          </p:cNvPr>
          <p:cNvCxnSpPr>
            <a:cxnSpLocks/>
          </p:cNvCxnSpPr>
          <p:nvPr/>
        </p:nvCxnSpPr>
        <p:spPr>
          <a:xfrm>
            <a:off x="5287108" y="2016373"/>
            <a:ext cx="7268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C31DAF-09A2-8C18-E02C-90A5F1347117}"/>
              </a:ext>
            </a:extLst>
          </p:cNvPr>
          <p:cNvCxnSpPr>
            <a:cxnSpLocks/>
          </p:cNvCxnSpPr>
          <p:nvPr/>
        </p:nvCxnSpPr>
        <p:spPr>
          <a:xfrm>
            <a:off x="4302370" y="2965943"/>
            <a:ext cx="7268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181F7D-5967-EC06-DFAF-EF19BE55240C}"/>
              </a:ext>
            </a:extLst>
          </p:cNvPr>
          <p:cNvCxnSpPr>
            <a:cxnSpLocks/>
          </p:cNvCxnSpPr>
          <p:nvPr/>
        </p:nvCxnSpPr>
        <p:spPr>
          <a:xfrm>
            <a:off x="6189786" y="4853359"/>
            <a:ext cx="7268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ECAFE2-053D-C348-5BF8-9E7AE02969E5}"/>
              </a:ext>
            </a:extLst>
          </p:cNvPr>
          <p:cNvCxnSpPr>
            <a:cxnSpLocks/>
          </p:cNvCxnSpPr>
          <p:nvPr/>
        </p:nvCxnSpPr>
        <p:spPr>
          <a:xfrm>
            <a:off x="4665785" y="3903789"/>
            <a:ext cx="7268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EAC26240-6FE4-A62D-D873-4F10917F0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6725" y="6312876"/>
            <a:ext cx="1057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12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EF48-E90F-430A-764F-1333E52C0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C156A-8F49-0199-8FFC-B23732962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07"/>
            <a:ext cx="8229600" cy="1143000"/>
          </a:xfrm>
        </p:spPr>
        <p:txBody>
          <a:bodyPr/>
          <a:lstStyle/>
          <a:p>
            <a:r>
              <a:rPr lang="en-US" dirty="0"/>
              <a:t>Dashboard Explanation(page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752D-2743-1601-40BC-B0C8A2A51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8006"/>
            <a:ext cx="9144000" cy="5709993"/>
          </a:xfrm>
        </p:spPr>
        <p:txBody>
          <a:bodyPr/>
          <a:lstStyle/>
          <a:p>
            <a:r>
              <a:rPr lang="en-US" dirty="0"/>
              <a:t>Graphs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Sales by Rating          </a:t>
            </a:r>
            <a:r>
              <a:rPr lang="en-US" dirty="0"/>
              <a:t>To examine the relationship between customer ratings and sales volume.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Best Seller vs Others           </a:t>
            </a:r>
            <a:r>
              <a:rPr lang="en-US" dirty="0"/>
              <a:t>To measure the impact of Best Seller labeling.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Amazon Choice Impact           </a:t>
            </a:r>
            <a:r>
              <a:rPr lang="en-US" dirty="0"/>
              <a:t>To assess the effect of Amazon Choice labeling.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Avg Price by Prime            </a:t>
            </a:r>
            <a:r>
              <a:rPr lang="en-US" dirty="0"/>
              <a:t>To compare pricing strategies between Prime and non-Prime products.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Top 10 Products by Sales           </a:t>
            </a:r>
            <a:r>
              <a:rPr lang="en-US" dirty="0"/>
              <a:t>To identify top-performing products and sales concentration.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400050" lvl="1" indent="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sz="2400" dirty="0"/>
          </a:p>
          <a:p>
            <a:pPr marL="914400" lvl="1" indent="-514350">
              <a:buFont typeface="+mj-lt"/>
              <a:buAutoNum type="arabicPeriod"/>
            </a:pPr>
            <a:endParaRPr lang="en-US" sz="2400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BC675E-8550-5DF4-6AB7-E6B489789A29}"/>
              </a:ext>
            </a:extLst>
          </p:cNvPr>
          <p:cNvCxnSpPr>
            <a:cxnSpLocks/>
          </p:cNvCxnSpPr>
          <p:nvPr/>
        </p:nvCxnSpPr>
        <p:spPr>
          <a:xfrm>
            <a:off x="4654062" y="5779481"/>
            <a:ext cx="7268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B01224-FCB0-D377-949A-4371976085E9}"/>
              </a:ext>
            </a:extLst>
          </p:cNvPr>
          <p:cNvCxnSpPr>
            <a:cxnSpLocks/>
          </p:cNvCxnSpPr>
          <p:nvPr/>
        </p:nvCxnSpPr>
        <p:spPr>
          <a:xfrm>
            <a:off x="3223847" y="2016375"/>
            <a:ext cx="7268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DE54E2-C738-27E5-6786-AF5BB2353EB5}"/>
              </a:ext>
            </a:extLst>
          </p:cNvPr>
          <p:cNvCxnSpPr>
            <a:cxnSpLocks/>
          </p:cNvCxnSpPr>
          <p:nvPr/>
        </p:nvCxnSpPr>
        <p:spPr>
          <a:xfrm>
            <a:off x="4419600" y="3868624"/>
            <a:ext cx="7268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17F0F5-12AB-DB09-DFEF-56B7566D2732}"/>
              </a:ext>
            </a:extLst>
          </p:cNvPr>
          <p:cNvCxnSpPr>
            <a:cxnSpLocks/>
          </p:cNvCxnSpPr>
          <p:nvPr/>
        </p:nvCxnSpPr>
        <p:spPr>
          <a:xfrm>
            <a:off x="3716215" y="4841640"/>
            <a:ext cx="85578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312B97-F64A-F7A0-B073-19DC0EDE9455}"/>
              </a:ext>
            </a:extLst>
          </p:cNvPr>
          <p:cNvCxnSpPr>
            <a:cxnSpLocks/>
          </p:cNvCxnSpPr>
          <p:nvPr/>
        </p:nvCxnSpPr>
        <p:spPr>
          <a:xfrm>
            <a:off x="4056185" y="2965942"/>
            <a:ext cx="7268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D4D0092C-AF86-0E18-6311-2E20EC9D9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6725" y="6312876"/>
            <a:ext cx="1057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72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56B1F-F760-A820-C447-083B56CC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7038"/>
            <a:ext cx="8229600" cy="803885"/>
          </a:xfrm>
        </p:spPr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C2263D-9B6B-A78E-A038-B0DE996F6E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1" y="1545085"/>
            <a:ext cx="9144001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analysis includes </a:t>
            </a:r>
            <a:r>
              <a:rPr lang="en-US" sz="2000" dirty="0">
                <a:solidFill>
                  <a:srgbClr val="FF0000"/>
                </a:solidFill>
              </a:rPr>
              <a:t>315 mobile phone products </a:t>
            </a:r>
            <a:r>
              <a:rPr lang="en-US" sz="2000" dirty="0"/>
              <a:t>from Amazon.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</a:t>
            </a:r>
            <a:r>
              <a:rPr lang="en-US" sz="2000" dirty="0">
                <a:solidFill>
                  <a:srgbClr val="FF0000"/>
                </a:solidFill>
              </a:rPr>
              <a:t> average price is around $171</a:t>
            </a:r>
            <a:r>
              <a:rPr lang="en-US" sz="2000" dirty="0"/>
              <a:t>, which shows that most products are in the mid-price range.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</a:rPr>
              <a:t>average rating is 4.08</a:t>
            </a:r>
            <a:r>
              <a:rPr lang="en-US" sz="2000" dirty="0"/>
              <a:t>, meaning most products receive good customer feedback.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Around </a:t>
            </a:r>
            <a:r>
              <a:rPr lang="en-US" sz="2000" dirty="0">
                <a:solidFill>
                  <a:srgbClr val="FF0000"/>
                </a:solidFill>
              </a:rPr>
              <a:t>43% of products are discounted</a:t>
            </a:r>
            <a:r>
              <a:rPr lang="en-US" sz="2000" dirty="0"/>
              <a:t>, so discounts are commonly used.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Discounted products show </a:t>
            </a:r>
            <a:r>
              <a:rPr lang="en-US" sz="2000" dirty="0">
                <a:solidFill>
                  <a:srgbClr val="FF0000"/>
                </a:solidFill>
              </a:rPr>
              <a:t>higher sales </a:t>
            </a:r>
            <a:r>
              <a:rPr lang="en-US" sz="2000" dirty="0"/>
              <a:t>compared to non-discounted products.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Products with </a:t>
            </a:r>
            <a:r>
              <a:rPr lang="en-US" sz="2000" dirty="0">
                <a:solidFill>
                  <a:srgbClr val="FF0000"/>
                </a:solidFill>
              </a:rPr>
              <a:t>better ratings generally sell more</a:t>
            </a:r>
            <a:r>
              <a:rPr lang="en-US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ar-EG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r>
              <a:rPr lang="en-US" sz="2000" dirty="0">
                <a:solidFill>
                  <a:srgbClr val="FF0000"/>
                </a:solidFill>
              </a:rPr>
              <a:t>Best Seller </a:t>
            </a:r>
            <a:r>
              <a:rPr lang="en-US" sz="2000" dirty="0"/>
              <a:t>products perform much better in sales than other products.</a:t>
            </a:r>
          </a:p>
          <a:p>
            <a:pPr marL="457200" indent="-457200">
              <a:buFont typeface="+mj-lt"/>
              <a:buAutoNum type="arabicPeriod"/>
            </a:pPr>
            <a:r>
              <a:rPr lang="ar-EG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r>
              <a:rPr lang="en-US" sz="2000" dirty="0">
                <a:solidFill>
                  <a:srgbClr val="FF0000"/>
                </a:solidFill>
              </a:rPr>
              <a:t>Amazon Choice </a:t>
            </a:r>
            <a:r>
              <a:rPr lang="en-US" sz="2000" dirty="0"/>
              <a:t>products also achieve higher sales.</a:t>
            </a:r>
          </a:p>
          <a:p>
            <a:pPr marL="457200" indent="-457200">
              <a:buFont typeface="+mj-lt"/>
              <a:buAutoNum type="arabicPeriod"/>
            </a:pPr>
            <a:r>
              <a:rPr lang="ar-EG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r>
              <a:rPr lang="en-US" sz="2000" dirty="0">
                <a:solidFill>
                  <a:srgbClr val="FF0000"/>
                </a:solidFill>
              </a:rPr>
              <a:t>Climate-friendly products </a:t>
            </a:r>
            <a:r>
              <a:rPr lang="en-US" sz="2000" dirty="0"/>
              <a:t>represent a smaller part of the dataset but have similar sales to other products.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 </a:t>
            </a:r>
            <a:r>
              <a:rPr lang="en-US" sz="2000" dirty="0">
                <a:solidFill>
                  <a:srgbClr val="FF0000"/>
                </a:solidFill>
              </a:rPr>
              <a:t>small number </a:t>
            </a:r>
            <a:r>
              <a:rPr lang="en-US" sz="2000" dirty="0"/>
              <a:t>of products contribute to a </a:t>
            </a:r>
            <a:r>
              <a:rPr lang="en-US" sz="2000" dirty="0">
                <a:solidFill>
                  <a:srgbClr val="FF0000"/>
                </a:solidFill>
              </a:rPr>
              <a:t>large portion of total sales</a:t>
            </a:r>
            <a:r>
              <a:rPr lang="en-US" sz="2000" dirty="0"/>
              <a:t>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6A6A39-95C2-0A8B-2D4E-7765DAA4D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6725" y="6283324"/>
            <a:ext cx="1057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67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sz="4800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64676"/>
            <a:ext cx="9144000" cy="51933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Discounts help </a:t>
            </a:r>
            <a:r>
              <a:rPr lang="en-US" sz="2800" dirty="0">
                <a:solidFill>
                  <a:srgbClr val="FF0000"/>
                </a:solidFill>
              </a:rPr>
              <a:t>increase product sales</a:t>
            </a:r>
            <a:r>
              <a:rPr lang="en-US" sz="2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Customer ratings have a </a:t>
            </a:r>
            <a:r>
              <a:rPr lang="en-US" sz="2800" dirty="0">
                <a:solidFill>
                  <a:srgbClr val="FF0000"/>
                </a:solidFill>
              </a:rPr>
              <a:t>clear impact on sales </a:t>
            </a:r>
            <a:r>
              <a:rPr lang="en-US" sz="2800" dirty="0"/>
              <a:t>performance.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Amazon labels such as Best Seller and Amazon Choice </a:t>
            </a:r>
            <a:r>
              <a:rPr lang="en-US" sz="2800" dirty="0">
                <a:solidFill>
                  <a:srgbClr val="FF0000"/>
                </a:solidFill>
              </a:rPr>
              <a:t>improve product visibility.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Climate-friendly products do not negatively affect sales.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.</a:t>
            </a:r>
            <a:r>
              <a:rPr lang="en-US" sz="2800" dirty="0">
                <a:solidFill>
                  <a:srgbClr val="FF0000"/>
                </a:solidFill>
              </a:rPr>
              <a:t>Pricing and promotions </a:t>
            </a:r>
            <a:r>
              <a:rPr lang="en-US" sz="2800" dirty="0"/>
              <a:t>play an important role in customer purchasing decisions.</a:t>
            </a:r>
          </a:p>
          <a:p>
            <a:pPr marL="0" indent="0">
              <a:buNone/>
            </a:pPr>
            <a:endParaRPr sz="20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388FB67-30D6-6472-E0E1-E8E227311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6725" y="6312876"/>
            <a:ext cx="105727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2575"/>
            <a:ext cx="8229600" cy="862502"/>
          </a:xfrm>
        </p:spPr>
        <p:txBody>
          <a:bodyPr>
            <a:noAutofit/>
          </a:bodyPr>
          <a:lstStyle/>
          <a:p>
            <a:r>
              <a:rPr lang="en-US" sz="4800" dirty="0"/>
              <a:t>Recommendations</a:t>
            </a:r>
            <a:endParaRPr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36430"/>
            <a:ext cx="9144000" cy="545538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Use </a:t>
            </a:r>
            <a:r>
              <a:rPr lang="en-US" sz="2800" dirty="0">
                <a:solidFill>
                  <a:srgbClr val="FF0000"/>
                </a:solidFill>
              </a:rPr>
              <a:t>discounts</a:t>
            </a:r>
            <a:r>
              <a:rPr lang="en-US" sz="2800" dirty="0"/>
              <a:t> mainly on products that already show </a:t>
            </a:r>
            <a:r>
              <a:rPr lang="en-US" sz="2800" dirty="0">
                <a:solidFill>
                  <a:srgbClr val="FF0000"/>
                </a:solidFill>
              </a:rPr>
              <a:t>good performance.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Focus on </a:t>
            </a:r>
            <a:r>
              <a:rPr lang="en-US" sz="2800" dirty="0">
                <a:solidFill>
                  <a:srgbClr val="FF0000"/>
                </a:solidFill>
              </a:rPr>
              <a:t>improving product ratings </a:t>
            </a:r>
            <a:r>
              <a:rPr lang="en-US" sz="2800" dirty="0"/>
              <a:t>by encouraging customer reviews.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Try to qualify more products for </a:t>
            </a:r>
            <a:r>
              <a:rPr lang="en-US" sz="2800" dirty="0">
                <a:solidFill>
                  <a:srgbClr val="FF0000"/>
                </a:solidFill>
              </a:rPr>
              <a:t>Best Seller </a:t>
            </a:r>
            <a:r>
              <a:rPr lang="en-US" sz="2800" dirty="0"/>
              <a:t>or </a:t>
            </a:r>
            <a:r>
              <a:rPr lang="en-US" sz="2800" dirty="0">
                <a:solidFill>
                  <a:srgbClr val="FF0000"/>
                </a:solidFill>
              </a:rPr>
              <a:t>Amazon Choice</a:t>
            </a:r>
            <a:r>
              <a:rPr lang="en-US" sz="2800" dirty="0"/>
              <a:t> programs.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Promote climate-friendly products more clearly.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Monitor </a:t>
            </a:r>
            <a:r>
              <a:rPr lang="en-US" sz="2800" dirty="0">
                <a:solidFill>
                  <a:srgbClr val="FF0000"/>
                </a:solidFill>
              </a:rPr>
              <a:t>top-selling products </a:t>
            </a:r>
            <a:r>
              <a:rPr lang="en-US" sz="2800" dirty="0"/>
              <a:t>and understand why they perform well.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C25F81-4745-9C4B-5EC3-E93BCED2B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10 products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contribute a disproportionately large share of total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34A492-F6BB-675B-D74C-F239CEB1E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6725" y="6312876"/>
            <a:ext cx="1057275" cy="295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1115</Words>
  <Application>Microsoft Office PowerPoint</Application>
  <PresentationFormat>On-screen Show (4:3)</PresentationFormat>
  <Paragraphs>134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Dataset Description</vt:lpstr>
      <vt:lpstr>Main Data Issues and their solutions</vt:lpstr>
      <vt:lpstr>Main Data Issues and their solutions</vt:lpstr>
      <vt:lpstr>Main Data Issues and their solutions</vt:lpstr>
      <vt:lpstr>Dashboard – Market Overview</vt:lpstr>
      <vt:lpstr>Dashboard – Discount &amp; Sustainability Analysis</vt:lpstr>
      <vt:lpstr>Dashboard – Sales Performance</vt:lpstr>
      <vt:lpstr>Dashboard Explanation(page 1)</vt:lpstr>
      <vt:lpstr>Dashboard Explanation(page 1)</vt:lpstr>
      <vt:lpstr>Dashboard Explanation(page 2)</vt:lpstr>
      <vt:lpstr>Key Insights</vt:lpstr>
      <vt:lpstr>Conclusion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ahmedmohammad elsaie</cp:lastModifiedBy>
  <cp:revision>6</cp:revision>
  <dcterms:created xsi:type="dcterms:W3CDTF">2013-01-27T09:14:16Z</dcterms:created>
  <dcterms:modified xsi:type="dcterms:W3CDTF">2026-01-10T22:16:07Z</dcterms:modified>
  <cp:category/>
</cp:coreProperties>
</file>